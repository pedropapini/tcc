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1" r:id="rId5"/>
    <p:sldId id="272" r:id="rId6"/>
    <p:sldId id="259" r:id="rId7"/>
    <p:sldId id="268" r:id="rId8"/>
    <p:sldId id="273" r:id="rId9"/>
    <p:sldId id="274" r:id="rId10"/>
    <p:sldId id="261" r:id="rId11"/>
    <p:sldId id="260" r:id="rId12"/>
    <p:sldId id="275" r:id="rId13"/>
    <p:sldId id="276" r:id="rId14"/>
    <p:sldId id="262" r:id="rId15"/>
    <p:sldId id="263" r:id="rId16"/>
    <p:sldId id="277" r:id="rId17"/>
    <p:sldId id="265" r:id="rId18"/>
    <p:sldId id="269" r:id="rId19"/>
    <p:sldId id="267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3341" autoAdjust="0"/>
  </p:normalViewPr>
  <p:slideViewPr>
    <p:cSldViewPr snapToGrid="0" snapToObjects="1">
      <p:cViewPr varScale="1">
        <p:scale>
          <a:sx n="79" d="100"/>
          <a:sy n="79" d="100"/>
        </p:scale>
        <p:origin x="90" y="10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EC24D-1672-4CDC-A158-6E4CB845170C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1CCF4-AECC-4556-A7B3-35691C411D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5749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1CCF4-AECC-4556-A7B3-35691C411DB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372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1CCF4-AECC-4556-A7B3-35691C411DB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6594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1CCF4-AECC-4556-A7B3-35691C411DB6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9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6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80160"/>
            <a:ext cx="9144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1867705"/>
            <a:ext cx="8412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b="1" i="1" dirty="0">
                <a:latin typeface="Georgia"/>
              </a:rPr>
              <a:t>Comércio Noturno e Desenvolvimento Socioeconômico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45268"/>
            <a:ext cx="841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1" i="1" dirty="0">
                <a:latin typeface="Georgia"/>
              </a:rPr>
              <a:t>em Porto Alegre: Uma </a:t>
            </a:r>
            <a:r>
              <a:rPr lang="pt-BR" b="1" i="1" dirty="0">
                <a:latin typeface="Georgia"/>
              </a:rPr>
              <a:t>a</a:t>
            </a:r>
            <a:r>
              <a:rPr lang="pt-BR" sz="1800" b="1" i="1" dirty="0">
                <a:latin typeface="Georgia"/>
              </a:rPr>
              <a:t>nálise por </a:t>
            </a:r>
            <a:r>
              <a:rPr lang="pt-BR" b="1" i="1" dirty="0">
                <a:latin typeface="Georgia"/>
              </a:rPr>
              <a:t>b</a:t>
            </a:r>
            <a:r>
              <a:rPr lang="pt-BR" sz="1800" b="1" i="1" dirty="0">
                <a:latin typeface="Georgia"/>
              </a:rPr>
              <a:t>airros (2000–2010)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89136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dirty="0">
                <a:latin typeface="Georgia"/>
              </a:rPr>
              <a:t>Pedro Papini Almeida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91428"/>
            <a:ext cx="5486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dirty="0">
                <a:latin typeface="Georgia"/>
              </a:rPr>
              <a:t>Orientadora</a:t>
            </a:r>
            <a:r>
              <a:rPr lang="pt-BR" sz="1150" b="0" i="0" dirty="0">
                <a:latin typeface="Calibri"/>
              </a:rPr>
              <a:t>: </a:t>
            </a:r>
            <a:r>
              <a:rPr lang="pt-BR" sz="1100" dirty="0">
                <a:latin typeface="Georgia"/>
              </a:rPr>
              <a:t>Prof.ª Aline </a:t>
            </a:r>
            <a:r>
              <a:rPr lang="pt-BR" sz="1100" dirty="0" err="1">
                <a:latin typeface="Georgia"/>
              </a:rPr>
              <a:t>Kruger</a:t>
            </a:r>
            <a:r>
              <a:rPr lang="pt-BR" sz="1100" dirty="0">
                <a:latin typeface="Georgia"/>
              </a:rPr>
              <a:t> </a:t>
            </a:r>
            <a:r>
              <a:rPr lang="pt-BR" sz="1100" dirty="0" err="1">
                <a:latin typeface="Georgia"/>
              </a:rPr>
              <a:t>Dalcin</a:t>
            </a:r>
            <a:endParaRPr lang="pt-BR" sz="1100" dirty="0">
              <a:latin typeface="Georg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" y="4636008"/>
            <a:ext cx="1450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Introdução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0576" y="4636008"/>
            <a:ext cx="1450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Ref. Teórico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4576" y="4636008"/>
            <a:ext cx="1450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Porto Alegre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4636008"/>
            <a:ext cx="1450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Metodologia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2576" y="4636008"/>
            <a:ext cx="1450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Resultados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6576" y="4636008"/>
            <a:ext cx="1450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Conclusões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  <a:latin typeface="Calibri"/>
              </a:rPr>
              <a:t>Faculdade de Ciências Econômicas – UFRGS  |  Porto Alegre,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Georgia"/>
              </a:rPr>
              <a:t>Introdução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080" y="826454"/>
            <a:ext cx="862584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Contexto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O comércio noturno é componente estratégico da dinâmica urbana (Cruz; Tenório, 2020).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No Brasil, a distribuição noturna reflete desigualdades socioespaciais históricas (Santos, 2008).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Porto Alegre possui vida noturna ativa com perfis distintos por bairro (Fonseca, 2006).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Crescimento de 152,5% no número de estabelecimentos noturnos (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ObservaPOA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).</a:t>
            </a:r>
          </a:p>
          <a:p>
            <a:pPr algn="just">
              <a:spcBef>
                <a:spcPts val="200"/>
              </a:spcBef>
            </a:pPr>
            <a:endParaRPr lang="pt-BR" sz="1050" b="0" dirty="0">
              <a:solidFill>
                <a:srgbClr val="1A1A1A"/>
              </a:solidFill>
              <a:latin typeface="Calibri"/>
            </a:endParaRPr>
          </a:p>
          <a:p>
            <a:pPr algn="just">
              <a:spcBef>
                <a:spcPts val="5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Problema de pesquisa</a:t>
            </a:r>
          </a:p>
          <a:p>
            <a:pPr marL="171450" indent="-171450" algn="just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1A1A1A"/>
                </a:solidFill>
                <a:latin typeface="Calibri"/>
                <a:sym typeface="Times New Roman"/>
              </a:rPr>
              <a:t>Diante </a:t>
            </a:r>
            <a:r>
              <a:rPr lang="en-US" sz="1050" dirty="0" err="1">
                <a:solidFill>
                  <a:srgbClr val="1A1A1A"/>
                </a:solidFill>
                <a:latin typeface="Calibri"/>
                <a:sym typeface="Times New Roman"/>
              </a:rPr>
              <a:t>desse</a:t>
            </a:r>
            <a:r>
              <a:rPr lang="en-US" sz="1050" dirty="0">
                <a:solidFill>
                  <a:srgbClr val="1A1A1A"/>
                </a:solidFill>
                <a:latin typeface="Calibri"/>
                <a:sym typeface="Times New Roman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Calibri"/>
                <a:sym typeface="Times New Roman"/>
              </a:rPr>
              <a:t>contexto</a:t>
            </a:r>
            <a:r>
              <a:rPr lang="en-US" sz="1050" dirty="0">
                <a:solidFill>
                  <a:srgbClr val="1A1A1A"/>
                </a:solidFill>
                <a:latin typeface="Calibri"/>
                <a:sym typeface="Times New Roman"/>
              </a:rPr>
              <a:t>, </a:t>
            </a:r>
            <a:r>
              <a:rPr lang="en-US" sz="1050" dirty="0" err="1">
                <a:solidFill>
                  <a:srgbClr val="1A1A1A"/>
                </a:solidFill>
                <a:latin typeface="Calibri"/>
                <a:sym typeface="Times New Roman"/>
              </a:rPr>
              <a:t>este</a:t>
            </a:r>
            <a:r>
              <a:rPr lang="en-US" sz="1050" dirty="0">
                <a:solidFill>
                  <a:srgbClr val="1A1A1A"/>
                </a:solidFill>
                <a:latin typeface="Calibri"/>
                <a:sym typeface="Times New Roman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Calibri"/>
                <a:sym typeface="Times New Roman"/>
              </a:rPr>
              <a:t>trabalho</a:t>
            </a:r>
            <a:r>
              <a:rPr lang="en-US" sz="1050" dirty="0">
                <a:solidFill>
                  <a:srgbClr val="1A1A1A"/>
                </a:solidFill>
                <a:latin typeface="Calibri"/>
                <a:sym typeface="Times New Roman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Calibri"/>
                <a:sym typeface="Times New Roman"/>
              </a:rPr>
              <a:t>procura</a:t>
            </a:r>
            <a:r>
              <a:rPr lang="en-US" sz="1050" dirty="0">
                <a:solidFill>
                  <a:srgbClr val="1A1A1A"/>
                </a:solidFill>
                <a:latin typeface="Calibri"/>
                <a:sym typeface="Times New Roman"/>
              </a:rPr>
              <a:t> </a:t>
            </a:r>
            <a:r>
              <a:rPr lang="pt-BR" sz="1050" dirty="0">
                <a:solidFill>
                  <a:srgbClr val="1A1A1A"/>
                </a:solidFill>
                <a:latin typeface="Calibri"/>
                <a:sym typeface="Times New Roman"/>
              </a:rPr>
              <a:t>a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nalisar a associação entre o comércio noturno e o desenvolvimento socioeconômico dos bairros de Porto             Alegre.</a:t>
            </a:r>
          </a:p>
          <a:p>
            <a:pPr marL="171450" indent="-171450" algn="just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Utilizando 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um modelo de 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dados em painel com aplicação de modelo de efeitos fixos em duas dimensões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 + Revisão bibliográfica.</a:t>
            </a:r>
            <a:endParaRPr lang="pt-BR" sz="1050" b="0" dirty="0">
              <a:solidFill>
                <a:srgbClr val="1A1A1A"/>
              </a:solidFill>
              <a:latin typeface="Calibri"/>
            </a:endParaRPr>
          </a:p>
          <a:p>
            <a:pPr algn="just">
              <a:spcBef>
                <a:spcPts val="200"/>
              </a:spcBef>
            </a:pPr>
            <a:endParaRPr lang="pt-BR" sz="1050" b="0" dirty="0">
              <a:solidFill>
                <a:srgbClr val="1A1A1A"/>
              </a:solidFill>
              <a:latin typeface="Calibri"/>
            </a:endParaRPr>
          </a:p>
          <a:p>
            <a:pPr algn="just">
              <a:spcBef>
                <a:spcPts val="5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Contribuição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Mapeamento noturno nos bairros em Porto Alegre.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Fornecer 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s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ubsídios para pesquisas futuras.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Além de contribuir para um 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c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ampo de estudo formado recentemente.</a:t>
            </a: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DB906F3F-C772-44AF-B688-8FAF729FE666}"/>
              </a:ext>
            </a:extLst>
          </p:cNvPr>
          <p:cNvSpPr/>
          <p:nvPr/>
        </p:nvSpPr>
        <p:spPr>
          <a:xfrm>
            <a:off x="457200" y="3991173"/>
            <a:ext cx="832104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D4F31376-8A51-4E7A-96C4-316BA6CE6C1A}"/>
              </a:ext>
            </a:extLst>
          </p:cNvPr>
          <p:cNvSpPr/>
          <p:nvPr/>
        </p:nvSpPr>
        <p:spPr>
          <a:xfrm>
            <a:off x="548640" y="4009461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 que medida o comércio noturno está associado ao desenvolvimento socioeconômico dos bairros de Porto Alegre?"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Economia urbana e o modelo monocêntrico AMM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" y="770433"/>
            <a:ext cx="8869679" cy="2362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Economia urbana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A Economia urbana é um campo situado na interseção entre Economia e Geografia, a Economia urbana analisa como as decisões de agentes se organizam no espaço (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O'Sullivan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2011), explicando por que cidades existem, como se expandem e como recursos se distribuem em seu interior. Essa articulação foi sistematiza por Krugman (1991). Sendo consolidada como campo acadêmico a partir dos trabalhos de Alonso (1964), Mills (1967) e 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Muth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 (1969). O principal motor do desenvolvimento das cidade são as chamadas “Economias de Aglomeração” (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O’Sullivan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2011).</a:t>
            </a:r>
          </a:p>
          <a:p>
            <a:pPr>
              <a:spcBef>
                <a:spcPts val="200"/>
              </a:spcBef>
            </a:pPr>
            <a:endParaRPr lang="pt-BR" sz="1050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Economias de Aglomeração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Economias de aglomeração são os ganhos econômicos derivados da proximidade: compartilhamento de infraestrutura, mercados de trabalho e informação. Esses ganhos influenciam na localização das firmas e do comércio, além de incentivar a formação de  “centralidades urbanas” (</a:t>
            </a:r>
            <a:r>
              <a:rPr lang="pt-BR" sz="1050" b="0" dirty="0" err="1">
                <a:solidFill>
                  <a:srgbClr val="1A1A1A"/>
                </a:solidFill>
                <a:latin typeface="Calibri"/>
              </a:rPr>
              <a:t>Glaeser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, 2011).</a:t>
            </a:r>
            <a:endParaRPr lang="pt-BR" sz="105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As centralidades urbanas são nós funcionais que organizam o fluxo de pessoas e de atividades numa determinada área de influência, concentrando estabelecimentos  de diversos tipos, principalmente comerciais (Scott, 1988). O primeiro modelo estabelecido foi o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monocêntrico AMM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, que considera que as cidades possuem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apenas uma centralidade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. Posteriormente foi constituído o modelo </a:t>
            </a:r>
            <a:r>
              <a:rPr lang="pt-BR" sz="1050" b="1" dirty="0" err="1">
                <a:solidFill>
                  <a:srgbClr val="1A1A1A"/>
                </a:solidFill>
                <a:latin typeface="Calibri"/>
              </a:rPr>
              <a:t>policêntrico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que considera a existência de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2 ou mais centralidades 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(Scott, 1988).</a:t>
            </a:r>
            <a:endParaRPr lang="pt-BR" sz="105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19081ED9-0D7F-400C-954E-7E1A88D23988}"/>
              </a:ext>
            </a:extLst>
          </p:cNvPr>
          <p:cNvSpPr txBox="1"/>
          <p:nvPr/>
        </p:nvSpPr>
        <p:spPr>
          <a:xfrm>
            <a:off x="164592" y="3201392"/>
            <a:ext cx="4453128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Modelo AMM (</a:t>
            </a:r>
            <a:r>
              <a:rPr lang="pt-BR" sz="1100" b="1" dirty="0" err="1">
                <a:solidFill>
                  <a:srgbClr val="1A1A1A"/>
                </a:solidFill>
                <a:latin typeface="Calibri"/>
              </a:rPr>
              <a:t>monocêntrico</a:t>
            </a:r>
            <a:r>
              <a:rPr lang="pt-BR" sz="1100" b="1" dirty="0">
                <a:solidFill>
                  <a:srgbClr val="1A1A1A"/>
                </a:solidFill>
                <a:latin typeface="Calibri"/>
              </a:rPr>
              <a:t>)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Nesse modelo, todas as atividades econômicas e empregos estão concentrados no distrito central (CBD), e as pessoas escolhem onde morar levando em conta principalmente o custo do transporte até o centro e o preço da terra. Assim, quanto mais perto do centro, maiores tendem a ser os preços dos terrenos, pois a acessibilidade é melhor; por outro lado, áreas mais distantes têm terrenos mais baratos, mas exigem maiores gastos com deslocamento. Dessa forma, o modelo mostra que há um trade-off entre custo de moradia e custo de transporte.</a:t>
            </a:r>
            <a:endParaRPr lang="pt-BR" sz="1050" b="0" dirty="0">
              <a:solidFill>
                <a:srgbClr val="1A1A1A"/>
              </a:solidFill>
              <a:latin typeface="Calibri"/>
            </a:endParaRPr>
          </a:p>
        </p:txBody>
      </p:sp>
      <p:pic>
        <p:nvPicPr>
          <p:cNvPr id="24" name="Imagem 23" descr="Cd com letras e números em fundo preto&#10;&#10;Descrição gerada automaticamente com confiança média">
            <a:extLst>
              <a:ext uri="{FF2B5EF4-FFF2-40B4-BE49-F238E27FC236}">
                <a16:creationId xmlns:a16="http://schemas.microsoft.com/office/drawing/2014/main" id="{01C956CB-7F48-45CA-902A-0BE9F54A7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076" y="2904736"/>
            <a:ext cx="2205847" cy="2173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i="1" dirty="0">
                <a:solidFill>
                  <a:srgbClr val="FFFFFF"/>
                </a:solidFill>
                <a:latin typeface="Georgia"/>
              </a:rPr>
              <a:t>Modelo </a:t>
            </a:r>
            <a:r>
              <a:rPr lang="pt-BR" sz="2000" i="1" dirty="0" err="1">
                <a:solidFill>
                  <a:srgbClr val="FFFFFF"/>
                </a:solidFill>
                <a:latin typeface="Georgia"/>
              </a:rPr>
              <a:t>policêntrico</a:t>
            </a:r>
            <a:r>
              <a:rPr lang="pt-BR" sz="2000" i="1" dirty="0">
                <a:solidFill>
                  <a:srgbClr val="FFFFFF"/>
                </a:solidFill>
                <a:latin typeface="Georgia"/>
              </a:rPr>
              <a:t> e espaço urbano 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8327" y="2981634"/>
            <a:ext cx="4413674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Condutores do Espaço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1" dirty="0"/>
              <a:t>Vertente marxista</a:t>
            </a:r>
            <a:r>
              <a:rPr lang="pt-BR" sz="1050" dirty="0"/>
              <a:t> -&gt; Autores como Harvey (2008) e Lefebvre (2004) demonstram que o espaço urbano não é neutro, mas sim produzido por relações de poder e pela lógica do capital. Esse processo resulta na valorização seletiva de áreas, frequentemente acompanhado pela expulsão de populações de menor renda, caracterizando fenômenos como a gentrificação.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Assim, a criação de cidades policêntrica representa um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aspecto negativo da capitalismo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visto que amplia e consolida desigualdades.</a:t>
            </a:r>
            <a:endParaRPr lang="pt-BR" sz="105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DCC1F367-B539-4CBA-ABF7-FA4078DEFF81}"/>
              </a:ext>
            </a:extLst>
          </p:cNvPr>
          <p:cNvSpPr txBox="1"/>
          <p:nvPr/>
        </p:nvSpPr>
        <p:spPr>
          <a:xfrm>
            <a:off x="152060" y="819150"/>
            <a:ext cx="422182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Modelo </a:t>
            </a:r>
            <a:r>
              <a:rPr lang="pt-BR" sz="1100" b="1" dirty="0" err="1">
                <a:solidFill>
                  <a:srgbClr val="1A1A1A"/>
                </a:solidFill>
                <a:latin typeface="Calibri"/>
              </a:rPr>
              <a:t>policêntrico</a:t>
            </a:r>
            <a:endParaRPr lang="pt-BR" sz="1100" b="1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O modelo 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policêntrico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 propõe que as cidades não se organizam em torno de uma única centralidade, mas sim de vários polos de atividade econômica e social distribuídos pelo território. Diferente do modelo de Alonso, aqui existem múltiplos centralidades, como bairros comerciais, áreas industriais, polos tecnológicos e regiões de serviços, que também concentram empregos e atraem fluxos de pessoas (Rice, 2009). Aqui que o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comércio noturno é inserido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Surgem da </a:t>
            </a:r>
            <a:r>
              <a:rPr lang="pt-BR" sz="1050" dirty="0"/>
              <a:t>expansão de uma cidade principal, a incorporação de núcleos menores ao seu entorno ou a fusão de cidades anteriormente independentes (Pessoa, 2011).</a:t>
            </a:r>
            <a:endParaRPr lang="pt-BR" sz="1050" b="0" dirty="0">
              <a:solidFill>
                <a:srgbClr val="1A1A1A"/>
              </a:solidFill>
              <a:latin typeface="Calibri"/>
            </a:endParaRPr>
          </a:p>
        </p:txBody>
      </p:sp>
      <p:pic>
        <p:nvPicPr>
          <p:cNvPr id="19" name="Imagem 18" descr="Cd com letras e números em fundo preto&#10;&#10;O conteúdo gerado por IA pode estar incorreto.">
            <a:extLst>
              <a:ext uri="{FF2B5EF4-FFF2-40B4-BE49-F238E27FC236}">
                <a16:creationId xmlns:a16="http://schemas.microsoft.com/office/drawing/2014/main" id="{E0B11171-587D-4EAA-B14D-D16A4B026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313" y="704088"/>
            <a:ext cx="2090057" cy="2067480"/>
          </a:xfrm>
          <a:prstGeom prst="rect">
            <a:avLst/>
          </a:prstGeom>
        </p:spPr>
      </p:pic>
      <p:sp>
        <p:nvSpPr>
          <p:cNvPr id="21" name="TextBox 16">
            <a:extLst>
              <a:ext uri="{FF2B5EF4-FFF2-40B4-BE49-F238E27FC236}">
                <a16:creationId xmlns:a16="http://schemas.microsoft.com/office/drawing/2014/main" id="{277A77A0-EA3A-4BDB-90A3-33654AA6FCF0}"/>
              </a:ext>
            </a:extLst>
          </p:cNvPr>
          <p:cNvSpPr txBox="1"/>
          <p:nvPr/>
        </p:nvSpPr>
        <p:spPr>
          <a:xfrm>
            <a:off x="4571999" y="2981634"/>
            <a:ext cx="4413672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Condutores do Espaço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1" dirty="0"/>
              <a:t>Vertente liberal</a:t>
            </a:r>
            <a:r>
              <a:rPr lang="pt-BR" sz="1050" dirty="0"/>
              <a:t> -&gt; Autores como Jacobs (1961) e </a:t>
            </a:r>
            <a:r>
              <a:rPr lang="pt-BR" sz="1050" dirty="0" err="1"/>
              <a:t>Gehl</a:t>
            </a:r>
            <a:r>
              <a:rPr lang="pt-BR" sz="1050" dirty="0"/>
              <a:t> (2014) enfatizam que a vitalidade urbana está associada à diversidade de usos e à presença contínua de pessoas nos espaços públicos. A mistura de funções, atividades e fluxos ao longo do tempo contribui para o dinamismo econômico, a sociabilidade e a melhoria da qualidade de vida nas cidades.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/>
              <a:t>Assim, o processo de consolidação de cidades policêntrica pode gerar </a:t>
            </a:r>
            <a:r>
              <a:rPr lang="pt-BR" sz="1050" b="1" dirty="0"/>
              <a:t>externalidades positivas para a vida dos habitantes</a:t>
            </a:r>
            <a:r>
              <a:rPr lang="pt-BR" sz="1050" dirty="0"/>
              <a:t> de um território, visto que ampliam as atividades disponíveis dentro da cidade </a:t>
            </a:r>
          </a:p>
        </p:txBody>
      </p:sp>
    </p:spTree>
    <p:extLst>
      <p:ext uri="{BB962C8B-B14F-4D97-AF65-F5344CB8AC3E}">
        <p14:creationId xmlns:p14="http://schemas.microsoft.com/office/powerpoint/2010/main" val="1414550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Comércio noturno e desenvolvimento urbano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823A996C-C3AD-4474-9A07-AF72BFFA5723}"/>
              </a:ext>
            </a:extLst>
          </p:cNvPr>
          <p:cNvSpPr txBox="1"/>
          <p:nvPr/>
        </p:nvSpPr>
        <p:spPr>
          <a:xfrm>
            <a:off x="231315" y="882362"/>
            <a:ext cx="8681369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Economia Noturna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A economia noturna é caracterizada como um amplo conjunto de atividades econômicas, com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caráter cultural e social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que se realizam entre o entardecer e o amanhecer, criando circuitos econômicos e redes de sociabilidade com lógicas próprias de uso, controle e apropriação do espaço, assim as atividades noturnas são diferentes em cada localidade (Cruz; Tenório, 2020), muitas vezes gerando conflito entre os moradores.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Nesse sentido, esse conjunto de atividades se insere diretamente nas duas primeiras áreas de análise da economia urbana propostas por 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O'Sullivan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 (2011):</a:t>
            </a:r>
          </a:p>
          <a:p>
            <a:pPr marL="628650" lvl="1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1" dirty="0">
                <a:solidFill>
                  <a:srgbClr val="1A1A1A"/>
                </a:solidFill>
                <a:latin typeface="Calibri"/>
              </a:rPr>
              <a:t>Forças de mercado 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-&gt; diversificação das atividades geradoras da renda;</a:t>
            </a:r>
          </a:p>
          <a:p>
            <a:pPr marL="628650" lvl="1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1" dirty="0">
                <a:solidFill>
                  <a:srgbClr val="1A1A1A"/>
                </a:solidFill>
                <a:latin typeface="Calibri"/>
              </a:rPr>
              <a:t>Uso do solo urbano 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-&gt; a localização das atividades noturnas é determinada pelas centralidades urbanas, e pela composição socioeconômica dos bairros, produzindo perfis noturnos distintos entre diferentes áreas da cidade.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5875D375-DEBE-4CF0-8A2B-034630035F39}"/>
              </a:ext>
            </a:extLst>
          </p:cNvPr>
          <p:cNvSpPr txBox="1"/>
          <p:nvPr/>
        </p:nvSpPr>
        <p:spPr>
          <a:xfrm>
            <a:off x="231314" y="2692998"/>
            <a:ext cx="6100733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Desenvolvimento Socioeconômico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De acordo com Amartya 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Sen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desenvolvimento humano refere-se à ampliação das capacitações dos indivíduos para viver a vida que valorizam,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não somente crescimento econômico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. Essa concepção, para este trabalho, foi contemplado pelo IDHM (Índice de Desenvolvimento Humano dos Municípios).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Do ponto de vista econômico, as atividades noturnas contribuem na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geração de emprego 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no segmento da economia criativa (Roberts; 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Eldridge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2009). Contudo, a relação com as demais dimensões do IDHM (saúde e educação) é mais indireta:</a:t>
            </a:r>
          </a:p>
          <a:p>
            <a:pPr marL="628650" lvl="1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1" dirty="0">
                <a:solidFill>
                  <a:srgbClr val="1A1A1A"/>
                </a:solidFill>
                <a:latin typeface="Calibri"/>
              </a:rPr>
              <a:t>Educação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: dependem de um determinado tempo para serem perceptíveis;</a:t>
            </a:r>
          </a:p>
          <a:p>
            <a:pPr marL="628650" lvl="1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1" dirty="0">
                <a:solidFill>
                  <a:srgbClr val="1A1A1A"/>
                </a:solidFill>
                <a:latin typeface="Calibri"/>
              </a:rPr>
              <a:t>Saúde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: maior expectativa de vida da população, sendo a segurança (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Sampson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1997) e a saúde mental (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Fancourt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2021) peças chaves.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1" dirty="0">
                <a:solidFill>
                  <a:srgbClr val="1A1A1A"/>
                </a:solidFill>
                <a:latin typeface="Calibri"/>
              </a:rPr>
              <a:t>Papel das instituições públicas são importantes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. Hirsch (1973) reforça que cidades com administração pública organizada, costumam atrair turistas e empreendedores, contribuindo para um ambiente urbano harmonioso e menos desigual.</a:t>
            </a:r>
          </a:p>
        </p:txBody>
      </p:sp>
      <p:pic>
        <p:nvPicPr>
          <p:cNvPr id="22" name="Imagem 21" descr="Homem de terno e gravata e óculos&#10;&#10;O conteúdo gerado por IA pode estar incorreto.">
            <a:extLst>
              <a:ext uri="{FF2B5EF4-FFF2-40B4-BE49-F238E27FC236}">
                <a16:creationId xmlns:a16="http://schemas.microsoft.com/office/drawing/2014/main" id="{FC85AC7A-7E92-443C-A7A7-6B420742B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494" y="2590158"/>
            <a:ext cx="1661051" cy="235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44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FFFFFF"/>
                </a:solidFill>
                <a:latin typeface="Georgia"/>
              </a:rPr>
              <a:t>Porto Alegre:</a:t>
            </a:r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 formação e história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1" y="959637"/>
            <a:ext cx="6004560" cy="4098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História da Urbanização (Singer, 1973) e (Soares; </a:t>
            </a:r>
            <a:r>
              <a:rPr lang="pt-BR" sz="1100" b="1" dirty="0" err="1">
                <a:solidFill>
                  <a:srgbClr val="1A1A1A"/>
                </a:solidFill>
                <a:latin typeface="Calibri"/>
              </a:rPr>
              <a:t>Fedozzi</a:t>
            </a:r>
            <a:r>
              <a:rPr lang="pt-BR" sz="1100" b="1" dirty="0">
                <a:solidFill>
                  <a:srgbClr val="1A1A1A"/>
                </a:solidFill>
                <a:latin typeface="Calibri"/>
              </a:rPr>
              <a:t>, 2016).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Singer (1977) analisa a formação da urbanização de porto-alegrense em quatro momentos, marcados por ciclos econômicos distintos (como os ciclos do trigo e do charque) e pela expansão desigual do tecido urbano.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A cidade desenvolveu-se com elevado grau de segregação socioespacial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onde áreas centrais e bairros de camadas médias receberam maior infraestrutura, enquanto áreas periféricas se expandiram de forma precária. Esse padrão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influenciou diretamente a distribuição das atividades culturais e de lazer.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5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Formação em 4 ciclos:</a:t>
            </a:r>
          </a:p>
          <a:p>
            <a:pPr marL="628650" lvl="1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Açorianos -&gt; transporte hidroviário.</a:t>
            </a:r>
          </a:p>
          <a:p>
            <a:pPr marL="628650" lvl="1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Alemães -&gt; Ciclo do trigo e imigração.</a:t>
            </a:r>
          </a:p>
          <a:p>
            <a:pPr marL="628650" lvl="1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Industrialização -&gt; valorização dos serviços.</a:t>
            </a:r>
          </a:p>
          <a:p>
            <a:pPr marL="628650" lvl="1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Globalização -&gt; descentralização dos centro de negócios.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5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Com o processo de globalização do século XX, a região metropolitana de Porto Alegre passou por um processo de reestruturação urbana, com 3 efeitos principais. O primeiro é a estruturação de uma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nova base econômica, apoiada na ideia de desconcentração da indústria e na economia de serviços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. O segundo é a </a:t>
            </a:r>
            <a:r>
              <a:rPr lang="pt-BR" sz="1050" b="1" dirty="0">
                <a:solidFill>
                  <a:srgbClr val="1A1A1A"/>
                </a:solidFill>
                <a:latin typeface="Calibri"/>
              </a:rPr>
              <a:t>polarização dos grupos sociais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na qual diferentes segmentos passam a ocupar diferentes territórios da cidade (gentrificação). E o terceiro é a criação de uma nova paisagem urbana com cada vez menos caráter industrial, sendo substituído por paisagem urbana comercial (Soares; </a:t>
            </a:r>
            <a:r>
              <a:rPr lang="pt-BR" sz="1050" dirty="0" err="1">
                <a:solidFill>
                  <a:srgbClr val="1A1A1A"/>
                </a:solidFill>
                <a:latin typeface="Calibri"/>
              </a:rPr>
              <a:t>Fedozzi</a:t>
            </a:r>
            <a:r>
              <a:rPr lang="pt-BR" sz="1050" dirty="0">
                <a:solidFill>
                  <a:srgbClr val="1A1A1A"/>
                </a:solidFill>
                <a:latin typeface="Calibri"/>
              </a:rPr>
              <a:t>, 2016).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5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O segmento noturno em Porto Alegre, compreendido pelo setor de serviços, desenvolveu-se de forma conjunta com as transformações sociais que aconteciam na cidade.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59D6603F-1434-4720-8B13-08F985E35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96" y="1050290"/>
            <a:ext cx="2305008" cy="172875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C9E7D15-1711-4EBE-8C96-A6193737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60" y="3125248"/>
            <a:ext cx="2767640" cy="1556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FFFFFF"/>
                </a:solidFill>
                <a:latin typeface="Georgia"/>
              </a:rPr>
              <a:t>Porto Alegre: </a:t>
            </a:r>
            <a:r>
              <a:rPr lang="pt-BR" sz="2000" i="1" dirty="0">
                <a:solidFill>
                  <a:srgbClr val="FFFFFF"/>
                </a:solidFill>
                <a:latin typeface="Georgia"/>
              </a:rPr>
              <a:t>comércio noturno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EB87C64-B004-4704-B09C-E197A0AB1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762" y="2571750"/>
            <a:ext cx="4618476" cy="266087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BB43B181-0C70-4381-A334-8714FF2B2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495" y="799514"/>
            <a:ext cx="5135009" cy="17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74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FFFFFF"/>
                </a:solidFill>
                <a:latin typeface="Georgia"/>
              </a:rPr>
              <a:t>Porto Alegre:</a:t>
            </a:r>
            <a:r>
              <a:rPr lang="pt-BR" sz="2000" i="1" dirty="0">
                <a:solidFill>
                  <a:srgbClr val="FFFFFF"/>
                </a:solidFill>
                <a:latin typeface="Georgia"/>
              </a:rPr>
              <a:t> Cidade Baixa e Moinhos de Vento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1" y="639678"/>
            <a:ext cx="8814815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endParaRPr lang="pt-BR" sz="1100" b="1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Cidade Baixa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/>
              <a:t>A Cidade Baixa tem origem no século XIX, quando a área era conhecida como Arraial da Baronesa. Situada abaixo do centro histórico, foi ocupada por imigrantes e população negra, incluindo </a:t>
            </a:r>
            <a:r>
              <a:rPr lang="pt-BR" sz="1050" dirty="0" err="1"/>
              <a:t>ex-escravizados</a:t>
            </a:r>
            <a:r>
              <a:rPr lang="pt-BR" sz="1050" dirty="0"/>
              <a:t>, consolidando-se como território de forte identidade cultural. Atualmente, o bairro se consolida como polo noturno popular com intensa presença de bares, restaurantes e espaços culturais. A localização próxima ao campus da UFRGS e ao Centro Histórico amplia a acessibilidade e reforça sua atratividade para públicos jovens (Fonseca, 2006).</a:t>
            </a:r>
            <a:endParaRPr lang="pt-BR" sz="105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4592" y="2914072"/>
            <a:ext cx="8814816" cy="1120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endParaRPr lang="pt-BR" sz="105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Moinhos de Vento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/>
              <a:t>Embora tenha sido oficializado em 1959, começou sua história na segunda metade do século XVIII, quando a área era conhecida como Caminho dos Moinhos, sendo associado à presença de moinhos de vento instalados por antigos moradores da cidade. Em sua configuração inicial, predominavam chácaras e grandes propriedades, com destaque para a família </a:t>
            </a:r>
            <a:r>
              <a:rPr lang="pt-BR" sz="1050" dirty="0" err="1"/>
              <a:t>Mostardeiro</a:t>
            </a:r>
            <a:r>
              <a:rPr lang="pt-BR" sz="1050" dirty="0"/>
              <a:t>, que posteriormente deu nome à importantes vias locais. Atualmente, configura uma centralidade noturna orientada ao consumo elitizado, com ênfase em alimentação e ambiente sofisticado (Fonseca, 2006).</a:t>
            </a:r>
            <a:endParaRPr lang="pt-BR" sz="10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 rot="5400000" flipH="1">
            <a:off x="4549141" y="-1444214"/>
            <a:ext cx="45719" cy="88148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8B847EAA-D0FA-4341-8135-B8C6B25F7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752920"/>
            <a:ext cx="4364666" cy="893155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1258E0C-9D04-4AC3-82D6-17A86EBA5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84" y="1839558"/>
            <a:ext cx="4434636" cy="81556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D0374D6F-812A-4C07-9D8F-F7D9FB8AD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6" y="4006160"/>
            <a:ext cx="4416552" cy="89045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9A8658B2-253C-4D57-BE6E-6EC965A0D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197" y="3981065"/>
            <a:ext cx="4433012" cy="90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3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FFFFFF"/>
                </a:solidFill>
                <a:latin typeface="Georgia"/>
              </a:rPr>
              <a:t>Porto Alegre:</a:t>
            </a:r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 regulação e governança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9558" y="1095027"/>
            <a:ext cx="8504883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Regulação e Governança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00" b="0" dirty="0">
                <a:solidFill>
                  <a:srgbClr val="1A1A1A"/>
                </a:solidFill>
                <a:latin typeface="Calibri"/>
              </a:rPr>
              <a:t>Em Porto Alegre, o Plano Diretor de Desenvolvimento Urbano Ambiental (PDDUA – Lei Complementar nº 434/1999) estabelece diretrizes gerais para o uso e ocupação do solo, porém não incorpora de forma estruturada uma política setorial voltada à vida noturna.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00" b="0" dirty="0">
                <a:solidFill>
                  <a:srgbClr val="1A1A1A"/>
                </a:solidFill>
                <a:latin typeface="Calibri"/>
              </a:rPr>
              <a:t>Tensão em 2025: cenário nas tensões recentes, em que o poder público simultaneamente promove o lazer noturno como estratégia de dinamização urbana, mas também impõe restrições a eventos e ocupações do espaço público, evidenciando conflitos entre diferentes interesses e formas de uso da cidade.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6E13DCD5-BDAD-4DF0-B805-0A52EF1B1CED}"/>
              </a:ext>
            </a:extLst>
          </p:cNvPr>
          <p:cNvSpPr txBox="1"/>
          <p:nvPr/>
        </p:nvSpPr>
        <p:spPr>
          <a:xfrm>
            <a:off x="319558" y="2414425"/>
            <a:ext cx="4206722" cy="1851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Londres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00" b="0" dirty="0">
                <a:solidFill>
                  <a:srgbClr val="1A1A1A"/>
                </a:solidFill>
                <a:latin typeface="Calibri"/>
              </a:rPr>
              <a:t>No caso de Londres, a governança da economia noturna se destaca pelo seu nível de institucionalização. A cidade foi pioneira na criação de cargos específicos voltados à gestão da vida noturna, como o cargo de Night Czar, responsável por mediar interesses entre governo, setor privado e sociedade civil. 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00" b="0" dirty="0">
                <a:solidFill>
                  <a:srgbClr val="1A1A1A"/>
                </a:solidFill>
                <a:latin typeface="Calibri"/>
              </a:rPr>
              <a:t>Essa abordagem reconhece a noite como uma dimensão estratégica da cidade, integrando políticas de mobilidade, segurança, cultura e desenvolvimento econômico. Dessa forma, Londres busca equilibrar dinamismo econômico e qualidade de vida, reduzindo conflitos por meio de uma governança mais articulada e transversal.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5A1FD465-9D2D-4FDD-B29A-6C8BD8E2C415}"/>
              </a:ext>
            </a:extLst>
          </p:cNvPr>
          <p:cNvSpPr txBox="1"/>
          <p:nvPr/>
        </p:nvSpPr>
        <p:spPr>
          <a:xfrm>
            <a:off x="4617720" y="2414424"/>
            <a:ext cx="4206722" cy="154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Bogotá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00" b="0" dirty="0">
                <a:solidFill>
                  <a:srgbClr val="1A1A1A"/>
                </a:solidFill>
                <a:latin typeface="Calibri"/>
              </a:rPr>
              <a:t>Em Bogotá, a gestão da vida noturna se estrutura a partir de uma abordagem social, com o objetivo de transformar a cidade em um polo 24 horas. 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00" b="0" dirty="0">
                <a:solidFill>
                  <a:srgbClr val="1A1A1A"/>
                </a:solidFill>
                <a:latin typeface="Calibri"/>
              </a:rPr>
              <a:t>A cidade adota estratégias que combinam regulação, presença institucional e promoção de eventos culturais, incentivando a ocupação do espaço urbano durante a noite de forma mais segura e inclusiva. Bogotá enfatiza a dimensão social da noite, utilizando-a como ferramenta de coesão urbana e revitalização de áreas. </a:t>
            </a:r>
          </a:p>
        </p:txBody>
      </p:sp>
    </p:spTree>
    <p:extLst>
      <p:ext uri="{BB962C8B-B14F-4D97-AF65-F5344CB8AC3E}">
        <p14:creationId xmlns:p14="http://schemas.microsoft.com/office/powerpoint/2010/main" val="717046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solidFill>
                  <a:srgbClr val="FFFFFF"/>
                </a:solidFill>
                <a:latin typeface="Calibri"/>
              </a:rPr>
              <a:t>Introdução</a:t>
            </a:r>
            <a:endParaRPr sz="75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 err="1">
                <a:solidFill>
                  <a:srgbClr val="FFFFFF"/>
                </a:solidFill>
                <a:latin typeface="Georgia"/>
              </a:rPr>
              <a:t>Estratégia</a:t>
            </a:r>
            <a:r>
              <a:rPr sz="20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2000" b="0" i="1" dirty="0" err="1">
                <a:solidFill>
                  <a:srgbClr val="FFFFFF"/>
                </a:solidFill>
                <a:latin typeface="Georgia"/>
              </a:rPr>
              <a:t>Empírica</a:t>
            </a:r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: modelo de efeitos fixos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813816"/>
            <a:ext cx="85953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83210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6074"/>
                </a:solidFill>
                <a:latin typeface="Cambria"/>
              </a:rPr>
              <a:t>Yᵢₜ  =  αᵢ  +  λₜ  +  β Xᵢₜ  +  εᵢₜ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904" y="1725280"/>
            <a:ext cx="8147442" cy="304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pt-BR" sz="1080" b="1" dirty="0">
                <a:solidFill>
                  <a:srgbClr val="1A1A1A"/>
                </a:solidFill>
                <a:latin typeface="Calibri"/>
              </a:rPr>
              <a:t>❑  Modelo de Efeitos Fixos em Duas Dimensões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Yᵢₜ: Variável dependente i no período t.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αᵢ: efeito fixo da unidade – controla características estruturais não observadas e constantes.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λₜ: efeito fixo de ano – captura choques comuns a todos os bairros.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Xᵢₜ: vetor de variáveis independentes.</a:t>
            </a:r>
          </a:p>
          <a:p>
            <a:pPr algn="just"/>
            <a:endParaRPr lang="pt-BR" sz="1080" b="1" dirty="0">
              <a:solidFill>
                <a:srgbClr val="1A1A1A"/>
              </a:solidFill>
              <a:latin typeface="Calibri"/>
            </a:endParaRPr>
          </a:p>
          <a:p>
            <a:pPr algn="just"/>
            <a:r>
              <a:rPr lang="pt-BR" sz="1080" b="1" dirty="0">
                <a:solidFill>
                  <a:srgbClr val="1A1A1A"/>
                </a:solidFill>
                <a:latin typeface="Calibri"/>
              </a:rPr>
              <a:t>❑  Transformação Within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dirty="0">
                <a:solidFill>
                  <a:srgbClr val="1A1A1A"/>
                </a:solidFill>
                <a:latin typeface="Calibri"/>
              </a:rPr>
              <a:t>A escolha do modelo de efeitos fixos em duas dimensões (</a:t>
            </a:r>
            <a:r>
              <a:rPr lang="pt-BR" sz="1030" dirty="0" err="1">
                <a:solidFill>
                  <a:srgbClr val="1A1A1A"/>
                </a:solidFill>
                <a:latin typeface="Calibri"/>
              </a:rPr>
              <a:t>Two</a:t>
            </a:r>
            <a:r>
              <a:rPr lang="pt-BR" sz="1030" dirty="0">
                <a:solidFill>
                  <a:srgbClr val="1A1A1A"/>
                </a:solidFill>
                <a:latin typeface="Calibri"/>
              </a:rPr>
              <a:t>-Way </a:t>
            </a:r>
            <a:r>
              <a:rPr lang="pt-BR" sz="1030" dirty="0" err="1">
                <a:solidFill>
                  <a:srgbClr val="1A1A1A"/>
                </a:solidFill>
                <a:latin typeface="Calibri"/>
              </a:rPr>
              <a:t>Fixed</a:t>
            </a:r>
            <a:r>
              <a:rPr lang="pt-BR" sz="1030" dirty="0">
                <a:solidFill>
                  <a:srgbClr val="1A1A1A"/>
                </a:solidFill>
                <a:latin typeface="Calibri"/>
              </a:rPr>
              <a:t> </a:t>
            </a:r>
            <a:r>
              <a:rPr lang="pt-BR" sz="1030" dirty="0" err="1">
                <a:solidFill>
                  <a:srgbClr val="1A1A1A"/>
                </a:solidFill>
                <a:latin typeface="Calibri"/>
              </a:rPr>
              <a:t>Effects</a:t>
            </a:r>
            <a:r>
              <a:rPr lang="pt-BR" sz="1030" dirty="0">
                <a:solidFill>
                  <a:srgbClr val="1A1A1A"/>
                </a:solidFill>
                <a:latin typeface="Calibri"/>
              </a:rPr>
              <a:t>) é apropriada para este estudo, pois pressupõe a presença de características fixas não observadas nas unidades de análise, como localização geográfica, padrão urbanístico e perfil  socioeconômico histórico, que podem influenciar simultaneamente a variável de interesse e o resultado, gerando viés.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3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dirty="0">
                <a:solidFill>
                  <a:srgbClr val="1A1A1A"/>
                </a:solidFill>
                <a:latin typeface="Calibri"/>
              </a:rPr>
              <a:t>Estimador within: subtrai a média temporal de cada bairro. Como as características são consideradas permanentes, a média é igual a ela mesma, assim eliminando o efeito fixo αᵢ.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3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dirty="0" err="1">
                <a:solidFill>
                  <a:srgbClr val="1A1A1A"/>
                </a:solidFill>
                <a:latin typeface="Calibri"/>
              </a:rPr>
              <a:t>Wooldridge</a:t>
            </a:r>
            <a:r>
              <a:rPr lang="pt-BR" sz="1030" dirty="0">
                <a:solidFill>
                  <a:srgbClr val="1A1A1A"/>
                </a:solidFill>
                <a:latin typeface="Calibri"/>
              </a:rPr>
              <a:t> (2010) argumenta que o estimador de efeitos fixos, obtido pela transformação within, que elimina a média individual temporal de cada unidade, produz estimativas não viesadas e consistentes dos parâmetros de interesse, independentemente da correlação entre os efeito não observados (termo de erro) e os </a:t>
            </a:r>
            <a:r>
              <a:rPr lang="pt-BR" sz="1030" dirty="0" err="1">
                <a:solidFill>
                  <a:srgbClr val="1A1A1A"/>
                </a:solidFill>
                <a:latin typeface="Calibri"/>
              </a:rPr>
              <a:t>regressores</a:t>
            </a:r>
            <a:r>
              <a:rPr lang="pt-BR" sz="103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FFFFFF"/>
                </a:solidFill>
                <a:latin typeface="Georgia"/>
              </a:rPr>
              <a:t>Base de </a:t>
            </a:r>
            <a:r>
              <a:rPr lang="pt-BR" sz="2000" i="1" dirty="0">
                <a:solidFill>
                  <a:srgbClr val="FFFFFF"/>
                </a:solidFill>
                <a:latin typeface="Georgia"/>
              </a:rPr>
              <a:t>dados e variáveis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" y="1381035"/>
            <a:ext cx="4759621" cy="303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Variáveis utilizadas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Variáveis explicadas: IDHM e Rendimento médio dos responsáveis do domicílio por bairro.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Variáveis explicativas: população, número de estabelecimentos noturnos e renda.</a:t>
            </a:r>
          </a:p>
          <a:p>
            <a:pPr>
              <a:spcBef>
                <a:spcPts val="200"/>
              </a:spcBef>
            </a:pPr>
            <a:endParaRPr lang="pt-BR" sz="1050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Fontes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IDHM: Censo Demográfico 2000 e 2010 – Atlas Brasil;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rgbClr val="1A1A1A"/>
                </a:solidFill>
                <a:latin typeface="Calibri"/>
              </a:rPr>
              <a:t>Rendimento Médio: 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Censo Demográfico 2000 e 2010 – IBGE;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Estabelecimentos noturnos: Cadastro de Alvarás – Dados Abertos POA;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População: Censo Demográfico 2000 e 2010 – </a:t>
            </a:r>
            <a:r>
              <a:rPr lang="pt-BR" sz="1050" b="0" dirty="0" err="1">
                <a:solidFill>
                  <a:srgbClr val="1A1A1A"/>
                </a:solidFill>
                <a:latin typeface="Calibri"/>
              </a:rPr>
              <a:t>ObservaPOA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</a:pPr>
            <a:endParaRPr lang="pt-BR" sz="1050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Unidades de análise e painel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78 bairros de Porto Alegre, com dois períodos: 2000 e 2010.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Software: R com pacote </a:t>
            </a:r>
            <a:r>
              <a:rPr lang="pt-BR" sz="1050" b="0" i="1" dirty="0">
                <a:solidFill>
                  <a:srgbClr val="1A1A1A"/>
                </a:solidFill>
                <a:latin typeface="Calibri"/>
              </a:rPr>
              <a:t>fixest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, e função </a:t>
            </a:r>
            <a:r>
              <a:rPr lang="pt-BR" sz="1050" b="0" i="1" dirty="0">
                <a:solidFill>
                  <a:srgbClr val="1A1A1A"/>
                </a:solidFill>
                <a:latin typeface="Calibri"/>
              </a:rPr>
              <a:t>feols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 | Estimador within com erros-padrão clusterizados por bairro.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6F0C4DEF-D287-4937-8B15-A47E31FE5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763145"/>
            <a:ext cx="2883408" cy="42699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solidFill>
                  <a:srgbClr val="FFFFFF"/>
                </a:solidFill>
                <a:latin typeface="Calibri"/>
              </a:rPr>
              <a:t>Introdução</a:t>
            </a:r>
            <a:endParaRPr sz="75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IDHM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2029" y="1469456"/>
            <a:ext cx="8119941" cy="231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pt-BR" sz="1080" b="1" dirty="0">
                <a:solidFill>
                  <a:srgbClr val="1A1A1A"/>
                </a:solidFill>
                <a:latin typeface="Calibri"/>
              </a:rPr>
              <a:t>❑  IDHM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O Índice de Desenvolvimento Humano Municipal (IDHM) é uma adaptação brasileira do IDH Global, desenvolvida para avaliar o nível de desenvolvimento humano em escala municipal e </a:t>
            </a:r>
            <a:r>
              <a:rPr lang="pt-BR" sz="1030" b="0" dirty="0" err="1">
                <a:solidFill>
                  <a:srgbClr val="1A1A1A"/>
                </a:solidFill>
                <a:latin typeface="Calibri"/>
              </a:rPr>
              <a:t>intramunicipal</a:t>
            </a:r>
            <a:r>
              <a:rPr lang="pt-BR" sz="1030" b="0" dirty="0">
                <a:solidFill>
                  <a:srgbClr val="1A1A1A"/>
                </a:solidFill>
                <a:latin typeface="Calibri"/>
              </a:rPr>
              <a:t>. O IDHM é um número que varia entre 0,000 e 1,000, em que quanto mais próximo de 1,000, maior o desenvolvimento humano da unidade analisada. 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3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O Atlas Brasil considera as mesmas três dimensões do IDH Global, renda, educação e longevidade, para o cálculo do índice, adequando a metodologia ao contexto brasileiro e à disponibilidade de indicadores nacionais. O IDHM é obtido pela média geométrica dos três subíndices que compõem o índice: longevidade (IDHM-L), educação (IDHM-E) e renda (IDHM-R):</a:t>
            </a:r>
          </a:p>
          <a:p>
            <a:pPr marL="628650" lvl="1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 Para a dimensão renda, o cálculo considera a renda domiciliar per capita, obtida a partir do questionário expandido do Censo Demográfico do IBGE, com os dados da amostra expandidos para o total da população. </a:t>
            </a:r>
          </a:p>
          <a:p>
            <a:pPr marL="628650" lvl="1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Já a dimensão educação considera dois indicadores: a taxa de alfabetização de pessoas acima de 15 anos (com peso dois) e a taxa bruta de frequência à escola (com peso um).</a:t>
            </a:r>
          </a:p>
          <a:p>
            <a:pPr marL="628650" lvl="1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dirty="0">
                <a:solidFill>
                  <a:srgbClr val="1A1A1A"/>
                </a:solidFill>
                <a:latin typeface="Calibri"/>
              </a:rPr>
              <a:t>E a dimensão da longevidade considera a expectativa de vida de uma pessoa.</a:t>
            </a:r>
            <a:endParaRPr lang="pt-BR" sz="103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44444"/>
                </a:solidFill>
                <a:latin typeface="Calibri"/>
              </a:rPr>
              <a:t>Fonte: Angrist e Pischke (2009).</a:t>
            </a:r>
          </a:p>
        </p:txBody>
      </p:sp>
    </p:spTree>
    <p:extLst>
      <p:ext uri="{BB962C8B-B14F-4D97-AF65-F5344CB8AC3E}">
        <p14:creationId xmlns:p14="http://schemas.microsoft.com/office/powerpoint/2010/main" val="3508468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solidFill>
                  <a:srgbClr val="FFFFFF"/>
                </a:solidFill>
                <a:latin typeface="Calibri"/>
              </a:rPr>
              <a:t>Introdução</a:t>
            </a:r>
            <a:endParaRPr sz="75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Tratamento e limitaç</a:t>
            </a:r>
            <a:r>
              <a:rPr lang="pt-BR" sz="2000" i="1" dirty="0">
                <a:solidFill>
                  <a:srgbClr val="FFFFFF"/>
                </a:solidFill>
                <a:latin typeface="Georgia"/>
              </a:rPr>
              <a:t>ões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FEF1CEFA-DA5C-4F38-97D9-8ABC561F32E9}"/>
              </a:ext>
            </a:extLst>
          </p:cNvPr>
          <p:cNvSpPr txBox="1"/>
          <p:nvPr/>
        </p:nvSpPr>
        <p:spPr>
          <a:xfrm>
            <a:off x="267788" y="846409"/>
            <a:ext cx="8608423" cy="231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pt-BR" sz="1080" b="1" dirty="0">
                <a:solidFill>
                  <a:srgbClr val="1A1A1A"/>
                </a:solidFill>
                <a:latin typeface="Calibri"/>
              </a:rPr>
              <a:t>❑  Tratamento de Dados</a:t>
            </a:r>
            <a:endParaRPr sz="1080" b="1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O indicador do IDHM é disponibilizado por nível das Unidades de Desenvolvimento Humano (UDH), recortes territoriais que agregam setores censitários e não coincidem com os limites dos bairros. Assim, cada UDH foi associada ao bairro correspondente e seus indicadores foram agregados ao nível de bairro por meio de uma média ponderada pela população residente de cada UDH, para 2000 e 2010. 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30" b="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Como a variável de rendimento médio o indicador é expresso em salários-mínimos, os valores foram convertidos para reais correntes multiplicando-se pelo salário-mínimo nacional vigente no mês de referência de cada Censo (R$ 151,00 em 2000 e R$ 510,00 em 2010), garantindo unidade monetária e definição consistentes entre os dois períodos. 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30" b="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Para a variável dos alvarás, foi selecionado os alvarás que correspondem as atividades noturnas na cidade (</a:t>
            </a:r>
            <a:r>
              <a:rPr lang="pt-BR" sz="1000" b="0" dirty="0">
                <a:solidFill>
                  <a:srgbClr val="1A1A1A"/>
                </a:solidFill>
                <a:latin typeface="Calibri"/>
              </a:rPr>
              <a:t>bares, restaurantes, casas noturnas e entretenimento)</a:t>
            </a:r>
            <a:r>
              <a:rPr lang="pt-BR" sz="1030" b="0" dirty="0">
                <a:solidFill>
                  <a:srgbClr val="1A1A1A"/>
                </a:solidFill>
                <a:latin typeface="Calibri"/>
              </a:rPr>
              <a:t>, depois separados por bairro e ano (</a:t>
            </a:r>
            <a:r>
              <a:rPr lang="pt-BR" sz="1000" b="0" dirty="0">
                <a:solidFill>
                  <a:srgbClr val="1A1A1A"/>
                </a:solidFill>
                <a:latin typeface="Calibri"/>
              </a:rPr>
              <a:t>deferimento ≤ 31/12/t, e vencimento ausente ou ≥ 01/01/t+1)</a:t>
            </a:r>
            <a:r>
              <a:rPr lang="pt-BR" sz="1030" b="0" dirty="0">
                <a:solidFill>
                  <a:srgbClr val="1A1A1A"/>
                </a:solidFill>
                <a:latin typeface="Calibri"/>
              </a:rPr>
              <a:t>.</a:t>
            </a:r>
            <a:r>
              <a:rPr lang="pt-BR" sz="1030" dirty="0">
                <a:solidFill>
                  <a:srgbClr val="1A1A1A"/>
                </a:solidFill>
                <a:latin typeface="Calibri"/>
              </a:rPr>
              <a:t> </a:t>
            </a:r>
            <a:r>
              <a:rPr lang="pt-BR" sz="1030" b="0" dirty="0">
                <a:solidFill>
                  <a:srgbClr val="1A1A1A"/>
                </a:solidFill>
                <a:latin typeface="Calibri"/>
              </a:rPr>
              <a:t>Posteriormente, foi </a:t>
            </a:r>
            <a:r>
              <a:rPr lang="pt-BR" sz="1030" dirty="0">
                <a:solidFill>
                  <a:srgbClr val="1A1A1A"/>
                </a:solidFill>
                <a:latin typeface="Calibri"/>
              </a:rPr>
              <a:t>feita a a</a:t>
            </a:r>
            <a:r>
              <a:rPr lang="pt-BR" sz="1030" b="0" dirty="0">
                <a:solidFill>
                  <a:srgbClr val="1A1A1A"/>
                </a:solidFill>
                <a:latin typeface="Calibri"/>
              </a:rPr>
              <a:t>gregação de bairros oficializados após 2010 aos bairros a qual pertenciam anteriormente.</a:t>
            </a:r>
          </a:p>
          <a:p>
            <a:pPr>
              <a:spcBef>
                <a:spcPts val="200"/>
              </a:spcBef>
            </a:pPr>
            <a:endParaRPr lang="pt-BR" sz="103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F7D35289-0C54-4505-AA14-C5F11796E521}"/>
              </a:ext>
            </a:extLst>
          </p:cNvPr>
          <p:cNvSpPr txBox="1"/>
          <p:nvPr/>
        </p:nvSpPr>
        <p:spPr>
          <a:xfrm>
            <a:off x="267787" y="3053075"/>
            <a:ext cx="8608423" cy="1838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pt-BR" sz="1080" b="1" dirty="0">
                <a:solidFill>
                  <a:srgbClr val="1A1A1A"/>
                </a:solidFill>
                <a:latin typeface="Calibri"/>
              </a:rPr>
              <a:t>❑  Limitações</a:t>
            </a:r>
            <a:endParaRPr sz="1080" b="1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Os dados censitários da população e do IDHM só possuem 2 períodos a serem disponíveis para serem analisados, visto a metodologia de pesquisa feita pelo IBGE.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30" b="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dirty="0">
                <a:solidFill>
                  <a:srgbClr val="1A1A1A"/>
                </a:solidFill>
                <a:latin typeface="Calibri"/>
              </a:rPr>
              <a:t>O setor da atividade noturna é muitas vezes realizadas no campo informal, dessa forma, o número de estabelecimentos neste trabalho pode não refletir completamente a realidade.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3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30" b="0" dirty="0">
                <a:solidFill>
                  <a:srgbClr val="1A1A1A"/>
                </a:solidFill>
                <a:latin typeface="Calibri"/>
              </a:rPr>
              <a:t>Além disso, a variável IDHM não é um indicador perfeito capaz de medir o desenvolvimento socioeconômico em sua totalidade, visto que existem aspectos da vida humana que não são possíveis de mensurar, como emoções, vontades e frustações pessoais (Camargo; Cardoso, 2019).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30" b="0" dirty="0">
              <a:solidFill>
                <a:srgbClr val="1A1A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1055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Resultados: </a:t>
            </a:r>
            <a:r>
              <a:rPr sz="2000" b="0" i="1" dirty="0">
                <a:solidFill>
                  <a:srgbClr val="FFFFFF"/>
                </a:solidFill>
                <a:latin typeface="Georgia"/>
              </a:rPr>
              <a:t>IDHM por </a:t>
            </a:r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b</a:t>
            </a:r>
            <a:r>
              <a:rPr sz="2000" b="0" i="1" dirty="0" err="1">
                <a:solidFill>
                  <a:srgbClr val="FFFFFF"/>
                </a:solidFill>
                <a:latin typeface="Georgia"/>
              </a:rPr>
              <a:t>airro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0896" y="1426464"/>
            <a:ext cx="2395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Especificação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1216" y="1426464"/>
            <a:ext cx="1847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Var. Dep.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1426464"/>
            <a:ext cx="15727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Coef. Noturnos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1426464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Sig.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4681728"/>
            <a:ext cx="85953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850" b="0" i="1">
                <a:solidFill>
                  <a:srgbClr val="444444"/>
                </a:solidFill>
                <a:latin typeface="Calibri"/>
              </a:rPr>
              <a:t>Nota: R² total próximo de 0,98 para todos os modelos. Within R² relativamente baixo indica que a maior parte da variação é estrutural entre bairros.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78CC09F2-5BA2-45FE-AB78-481B48561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63121"/>
            <a:ext cx="7619247" cy="36595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FFFFFF"/>
                </a:solidFill>
                <a:latin typeface="Georgia"/>
              </a:rPr>
              <a:t>Rend</a:t>
            </a:r>
            <a:r>
              <a:rPr lang="pt-BR" sz="2000" b="0" i="1" dirty="0" err="1">
                <a:solidFill>
                  <a:srgbClr val="FFFFFF"/>
                </a:solidFill>
                <a:latin typeface="Georgia"/>
              </a:rPr>
              <a:t>imento</a:t>
            </a:r>
            <a:r>
              <a:rPr sz="2000" b="0" i="1" dirty="0">
                <a:solidFill>
                  <a:srgbClr val="FFFFFF"/>
                </a:solidFill>
                <a:latin typeface="Georgia"/>
              </a:rPr>
              <a:t> </a:t>
            </a:r>
            <a:r>
              <a:rPr sz="2000" b="0" i="1" dirty="0" err="1">
                <a:solidFill>
                  <a:srgbClr val="FFFFFF"/>
                </a:solidFill>
                <a:latin typeface="Georgia"/>
              </a:rPr>
              <a:t>Médi</a:t>
            </a:r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o</a:t>
            </a:r>
            <a:r>
              <a:rPr sz="2000" b="0" i="1" dirty="0">
                <a:solidFill>
                  <a:srgbClr val="FFFFFF"/>
                </a:solidFill>
                <a:latin typeface="Georgia"/>
              </a:rPr>
              <a:t> por </a:t>
            </a:r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b</a:t>
            </a:r>
            <a:r>
              <a:rPr sz="2000" b="0" i="1" dirty="0" err="1">
                <a:solidFill>
                  <a:srgbClr val="FFFFFF"/>
                </a:solidFill>
                <a:latin typeface="Georgia"/>
              </a:rPr>
              <a:t>airro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71216" y="1426464"/>
            <a:ext cx="1847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Var. Dep.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1426464"/>
            <a:ext cx="15727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Coef. Noturnos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1426464"/>
            <a:ext cx="12070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Within R²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4681728"/>
            <a:ext cx="85953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850" b="0" i="1" dirty="0">
                <a:solidFill>
                  <a:srgbClr val="444444"/>
                </a:solidFill>
                <a:latin typeface="Calibri"/>
              </a:rPr>
              <a:t>Nota: Na especificação Log Renda, os coeficientes perdem significância.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A46AAF49-B390-475E-8D23-7424CFEC6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70" y="842312"/>
            <a:ext cx="7904859" cy="36437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1" dirty="0">
                <a:solidFill>
                  <a:srgbClr val="FFFFFF"/>
                </a:solidFill>
                <a:latin typeface="Georgia"/>
              </a:rPr>
              <a:t>Educação e </a:t>
            </a:r>
            <a:r>
              <a:rPr lang="pt-BR" sz="2000" b="0" i="1" dirty="0" err="1">
                <a:solidFill>
                  <a:srgbClr val="FFFFFF"/>
                </a:solidFill>
                <a:latin typeface="Georgia"/>
              </a:rPr>
              <a:t>lo</a:t>
            </a:r>
            <a:r>
              <a:rPr lang="pt-BR" sz="2000" i="1" dirty="0" err="1">
                <a:solidFill>
                  <a:srgbClr val="FFFFFF"/>
                </a:solidFill>
                <a:latin typeface="Georgia"/>
              </a:rPr>
              <a:t>ngividade</a:t>
            </a:r>
            <a:r>
              <a:rPr lang="pt-BR" sz="2000" i="1" dirty="0">
                <a:solidFill>
                  <a:srgbClr val="FFFFFF"/>
                </a:solidFill>
                <a:latin typeface="Georgia"/>
              </a:rPr>
              <a:t> do IDHM por bairro</a:t>
            </a:r>
            <a:endParaRPr sz="2000" b="0" i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71216" y="1426464"/>
            <a:ext cx="18470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Var. Dep.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1426464"/>
            <a:ext cx="15727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Coef. Noturnos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1426464"/>
            <a:ext cx="12070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Within R²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CD4D539-E766-494F-9794-A7022B89E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20" y="1013620"/>
            <a:ext cx="8353559" cy="356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77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Georgia"/>
              </a:rPr>
              <a:t>Considerações Finais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804215"/>
            <a:ext cx="8449733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Efeitos distintos por variável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 Os resultados revelam que o comércio noturno possui uma associação com o desenvolvimento socioeconômico dos bairros de Porto Alegre, mas que essa associação é complexa, tendo resultados diferentes em diferentes localidades. Por um lado, a expansão do comércio noturno apresenta correlação positiva e estatisticamente significativa com o rendimento médio dos responsáveis do domicílio dos bairros. Por outro, observa-se uma associação negativa com o Índice de Desenvolvimento Humano Municipal (IDHM), indicando que esse dinamismo econômico não se traduz, no recorte analisado, em ganhos amplos de desenvolvimento humano.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50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Associação e Causalidade reversa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O efeito negativo sobre o IDHM sinaliza que esse dinamismo econômico não se traduz em desenvolvimento humano. Essa diferenciação encontra explicação na perspectiva de </a:t>
            </a:r>
            <a:r>
              <a:rPr lang="pt-BR" sz="1050" b="0" dirty="0" err="1">
                <a:solidFill>
                  <a:srgbClr val="1A1A1A"/>
                </a:solidFill>
                <a:latin typeface="Calibri"/>
              </a:rPr>
              <a:t>Sen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 (2010). Os resultados negativos também podem ser explicados por Lefebvre e Harvey, ao considerarem que a evolução urbana foi marcado por processos de desigualdade. Assim, a concentração do comércio noturno em determinadas áreas acompanha os diferenciais de infraestrutura, acessibilidade e renda que estruturam o espaço urbano de forma desigual. Processo exemplificado ao comparar a Cidade Baixa e o Moinhos de Vento.</a:t>
            </a: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endParaRPr lang="pt-BR" sz="1050" b="0" dirty="0">
              <a:solidFill>
                <a:srgbClr val="1A1A1A"/>
              </a:solidFill>
              <a:latin typeface="Calibri"/>
            </a:endParaRPr>
          </a:p>
          <a:p>
            <a:pPr marL="171450" indent="-171450" algn="just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Por outro lado, o efeito positivo sobre o rendimento médio pode ser explicado pela ampliação de empregos e a intensificam do fluxo econômicos. Esse achado é coerente com a leitura de Roberts e </a:t>
            </a:r>
            <a:r>
              <a:rPr lang="pt-BR" sz="1050" b="0" dirty="0" err="1">
                <a:solidFill>
                  <a:srgbClr val="1A1A1A"/>
                </a:solidFill>
                <a:latin typeface="Calibri"/>
              </a:rPr>
              <a:t>Eldridge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 (2009), que identificam o setor noturno como componente relevante do desenvolvimento urbano contemporâneo, e dialoga com a noção de Jacobs (1961) e </a:t>
            </a:r>
            <a:r>
              <a:rPr lang="pt-BR" sz="1050" b="0" dirty="0" err="1">
                <a:solidFill>
                  <a:srgbClr val="1A1A1A"/>
                </a:solidFill>
                <a:latin typeface="Calibri"/>
              </a:rPr>
              <a:t>Gehl</a:t>
            </a:r>
            <a:r>
              <a:rPr lang="pt-BR" sz="1050" b="0" dirty="0">
                <a:solidFill>
                  <a:srgbClr val="1A1A1A"/>
                </a:solidFill>
                <a:latin typeface="Calibri"/>
              </a:rPr>
              <a:t> (2014) de que a diversidade de usos ao longo do tempo e a permanência continuada de pessoas no espaço público fortalecem a economia e a convivência nas cidades.</a:t>
            </a:r>
          </a:p>
          <a:p>
            <a:pPr>
              <a:spcBef>
                <a:spcPts val="200"/>
              </a:spcBef>
            </a:pPr>
            <a:endParaRPr lang="pt-BR" sz="1050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pt-BR" sz="1100" b="1" dirty="0">
                <a:solidFill>
                  <a:srgbClr val="1A1A1A"/>
                </a:solidFill>
                <a:latin typeface="Calibri"/>
              </a:rPr>
              <a:t>❑  Sugestões para pesquisas futuras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Incorporar dados do Censo 2022.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Explorar outra variáveis que possam ser usados como indicadores de desenvolvimento socioeconômico.</a:t>
            </a:r>
          </a:p>
          <a:p>
            <a:pPr marL="171450" indent="-171450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pt-BR" sz="1050" b="0" dirty="0">
                <a:solidFill>
                  <a:srgbClr val="1A1A1A"/>
                </a:solidFill>
                <a:latin typeface="Calibri"/>
              </a:rPr>
              <a:t>Incluir a análise de políticas públicas aplicadas.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69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Ref. Teórico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93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Porto Alegre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0"/>
            <a:ext cx="1524000" cy="2011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1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0"/>
            <a:ext cx="1524000" cy="201168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5720" y="27432"/>
            <a:ext cx="1432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" y="24688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Georgia"/>
              </a:rPr>
              <a:t>Referências Bibliográficas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D92F0DA7-7257-4CB5-A1DC-566E7FC3679D}"/>
              </a:ext>
            </a:extLst>
          </p:cNvPr>
          <p:cNvSpPr/>
          <p:nvPr/>
        </p:nvSpPr>
        <p:spPr>
          <a:xfrm>
            <a:off x="411480" y="100584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ANGRIST, J. D.; PISCHKE, J. S. Mostly Harmless Econometrics. Princeton University Press, 2008.</a:t>
            </a:r>
            <a:endParaRPr lang="en-US" sz="105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9885FD0-F387-4CC5-87AF-E3EE49AD4FAA}"/>
              </a:ext>
            </a:extLst>
          </p:cNvPr>
          <p:cNvSpPr/>
          <p:nvPr/>
        </p:nvSpPr>
        <p:spPr>
          <a:xfrm>
            <a:off x="411480" y="128016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CRUZ, B. O.; TENÓRIO, J. C. Economia Noturna. IPEA, 2020.</a:t>
            </a:r>
            <a:endParaRPr lang="en-US" sz="105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5F6565F2-77D9-4D66-B525-891938970E2F}"/>
              </a:ext>
            </a:extLst>
          </p:cNvPr>
          <p:cNvSpPr/>
          <p:nvPr/>
        </p:nvSpPr>
        <p:spPr>
          <a:xfrm>
            <a:off x="411480" y="155448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GLAESER, E. Triumph of the City. Penguin Press, 2011.</a:t>
            </a:r>
            <a:endParaRPr lang="en-US" sz="10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D6E13926-06EE-4D99-AEFC-A640061B893B}"/>
              </a:ext>
            </a:extLst>
          </p:cNvPr>
          <p:cNvSpPr/>
          <p:nvPr/>
        </p:nvSpPr>
        <p:spPr>
          <a:xfrm>
            <a:off x="411480" y="182880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HARVEY, D. The Right to the City. New Left Review, n. 53, 2008.</a:t>
            </a:r>
            <a:endParaRPr lang="en-US" sz="105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B6D3F849-F7B8-4480-8269-8DCA1F7D01DF}"/>
              </a:ext>
            </a:extLst>
          </p:cNvPr>
          <p:cNvSpPr/>
          <p:nvPr/>
        </p:nvSpPr>
        <p:spPr>
          <a:xfrm>
            <a:off x="411480" y="210312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JACOBS, J. The Death and Life of Great American Cities. Random House, 1961.</a:t>
            </a:r>
            <a:endParaRPr lang="en-US" sz="105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C0614453-E095-4283-A527-BE63609B6ADF}"/>
              </a:ext>
            </a:extLst>
          </p:cNvPr>
          <p:cNvSpPr/>
          <p:nvPr/>
        </p:nvSpPr>
        <p:spPr>
          <a:xfrm>
            <a:off x="411480" y="237744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LEFEBVRE, H. The Production of Space. Blackwell, 2004.</a:t>
            </a:r>
            <a:endParaRPr lang="en-US" sz="10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69A8AD53-7288-48F5-9C45-C09BBEACC891}"/>
              </a:ext>
            </a:extLst>
          </p:cNvPr>
          <p:cNvSpPr/>
          <p:nvPr/>
        </p:nvSpPr>
        <p:spPr>
          <a:xfrm>
            <a:off x="411480" y="265176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O'SULLIVAN, A. Urban Economics. 8. ed. McGraw-Hill, 2011.</a:t>
            </a:r>
            <a:endParaRPr lang="en-US" sz="105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238A0F72-E720-447D-8989-7D33E8C4DECC}"/>
              </a:ext>
            </a:extLst>
          </p:cNvPr>
          <p:cNvSpPr/>
          <p:nvPr/>
        </p:nvSpPr>
        <p:spPr>
          <a:xfrm>
            <a:off x="411480" y="292608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ROBERTS, M.; ELDRIDGE, A. Planning the Night-time City. Routledge, 2009.</a:t>
            </a:r>
            <a:endParaRPr lang="en-US" sz="105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B537C1B7-5A07-4D7C-AD6C-FCF133339027}"/>
              </a:ext>
            </a:extLst>
          </p:cNvPr>
          <p:cNvSpPr/>
          <p:nvPr/>
        </p:nvSpPr>
        <p:spPr>
          <a:xfrm>
            <a:off x="411480" y="320040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SANTOS, M. A Urbanização Brasileira. 5. ed. EDUSP, 2006.</a:t>
            </a:r>
            <a:endParaRPr lang="en-US" sz="105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87F3C9A6-DC10-4176-85AB-D6B78CAC0B20}"/>
              </a:ext>
            </a:extLst>
          </p:cNvPr>
          <p:cNvSpPr/>
          <p:nvPr/>
        </p:nvSpPr>
        <p:spPr>
          <a:xfrm>
            <a:off x="411480" y="347472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SEIJAS, A.; GELDERS, M. Governing the Night-time City. Urban Studies, 2021.</a:t>
            </a:r>
            <a:endParaRPr lang="en-US" sz="105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12B5A255-6D0E-4FB2-A105-61861512F7DE}"/>
              </a:ext>
            </a:extLst>
          </p:cNvPr>
          <p:cNvSpPr/>
          <p:nvPr/>
        </p:nvSpPr>
        <p:spPr>
          <a:xfrm>
            <a:off x="411480" y="374904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SINGER, P. Economia Política da Urbanização. Brasiliense, 1977.</a:t>
            </a:r>
            <a:endParaRPr lang="en-US" sz="105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C64FF610-6A48-4565-953F-AA56C8FE2E1C}"/>
              </a:ext>
            </a:extLst>
          </p:cNvPr>
          <p:cNvSpPr/>
          <p:nvPr/>
        </p:nvSpPr>
        <p:spPr>
          <a:xfrm>
            <a:off x="411480" y="402336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SOARES, P. R.; FEDOZZI, L. Porto Alegre: transformações na ordem urbana. Letra Capital, 2015.</a:t>
            </a:r>
            <a:endParaRPr lang="en-US" sz="105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BBE541A1-4412-4924-B65C-9D78FBA80561}"/>
              </a:ext>
            </a:extLst>
          </p:cNvPr>
          <p:cNvSpPr/>
          <p:nvPr/>
        </p:nvSpPr>
        <p:spPr>
          <a:xfrm>
            <a:off x="411480" y="429768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WOOLDRIDGE, J. M. Econometric Analysis of Cross Section and Panel Data. 2. ed. MIT Press, 2010.</a:t>
            </a:r>
            <a:endParaRPr lang="en-US" sz="105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1DE202D2-9DEA-4285-996F-E075120798DA}"/>
              </a:ext>
            </a:extLst>
          </p:cNvPr>
          <p:cNvSpPr/>
          <p:nvPr/>
        </p:nvSpPr>
        <p:spPr>
          <a:xfrm>
            <a:off x="411480" y="457200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dados: ObservaPOA (Prefeitura de POA); Atlas Brasil / IBGE;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25766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6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023110"/>
            <a:ext cx="9144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1" dirty="0" err="1">
                <a:latin typeface="Georgia"/>
              </a:rPr>
              <a:t>Obrigado</a:t>
            </a:r>
            <a:r>
              <a:rPr sz="4200" b="1" i="1" dirty="0">
                <a:latin typeface="Georgia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Pedro Papini Almeida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136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Orientadora: Prof.ª Aline Kruger Dalcin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Faculdade de Ciências Econômicas – UFRGS  |  Porto Alegre,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" y="4864608"/>
            <a:ext cx="1450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Introdução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0576" y="4864608"/>
            <a:ext cx="1450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Ref. Teórico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4576" y="4864608"/>
            <a:ext cx="1450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Porto Alegre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4864608"/>
            <a:ext cx="1450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Metodologia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2576" y="4864608"/>
            <a:ext cx="1450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Resultados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6576" y="4864608"/>
            <a:ext cx="14508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AAAAA"/>
                </a:solidFill>
                <a:latin typeface="Calibri"/>
              </a:rPr>
              <a:t>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3666</Words>
  <Application>Microsoft Office PowerPoint</Application>
  <PresentationFormat>Apresentação na tela (16:9)</PresentationFormat>
  <Paragraphs>297</Paragraphs>
  <Slides>19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Georgia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Pedro Papini Almeida</cp:lastModifiedBy>
  <cp:revision>46</cp:revision>
  <dcterms:created xsi:type="dcterms:W3CDTF">2013-01-27T09:14:16Z</dcterms:created>
  <dcterms:modified xsi:type="dcterms:W3CDTF">2026-06-18T20:17:52Z</dcterms:modified>
  <cp:category/>
</cp:coreProperties>
</file>